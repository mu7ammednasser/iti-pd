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0" r:id="rId3"/>
    <p:sldId id="281" r:id="rId4"/>
    <p:sldId id="282" r:id="rId5"/>
    <p:sldId id="283" r:id="rId6"/>
    <p:sldId id="285" r:id="rId7"/>
    <p:sldId id="284" r:id="rId8"/>
    <p:sldId id="279"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96" r:id="rId22"/>
    <p:sldId id="269" r:id="rId23"/>
    <p:sldId id="270" r:id="rId24"/>
    <p:sldId id="271" r:id="rId25"/>
    <p:sldId id="287" r:id="rId26"/>
    <p:sldId id="288" r:id="rId27"/>
    <p:sldId id="289" r:id="rId28"/>
    <p:sldId id="297" r:id="rId29"/>
    <p:sldId id="291" r:id="rId30"/>
    <p:sldId id="292" r:id="rId31"/>
    <p:sldId id="293"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84" autoAdjust="0"/>
  </p:normalViewPr>
  <p:slideViewPr>
    <p:cSldViewPr snapToGrid="0">
      <p:cViewPr>
        <p:scale>
          <a:sx n="75" d="100"/>
          <a:sy n="75" d="100"/>
        </p:scale>
        <p:origin x="946" y="-15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DF38-B657-412B-AF99-05E6128ABFA0}"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27BA-BE48-4F7F-B3F3-34C2A37D9121}" type="slidenum">
              <a:rPr lang="en-US" smtClean="0"/>
              <a:t>‹#›</a:t>
            </a:fld>
            <a:endParaRPr lang="en-US"/>
          </a:p>
        </p:txBody>
      </p:sp>
    </p:spTree>
    <p:extLst>
      <p:ext uri="{BB962C8B-B14F-4D97-AF65-F5344CB8AC3E}">
        <p14:creationId xmlns:p14="http://schemas.microsoft.com/office/powerpoint/2010/main" val="40348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404040"/>
                </a:solidFill>
                <a:effectLst/>
                <a:latin typeface="Inter"/>
              </a:rPr>
              <a:t>width=device-width</a:t>
            </a:r>
            <a:r>
              <a:rPr lang="en-US" b="0" i="0" dirty="0">
                <a:solidFill>
                  <a:srgbClr val="404040"/>
                </a:solidFill>
                <a:effectLst/>
                <a:latin typeface="Inter"/>
              </a:rPr>
              <a:t>: The width of the viewport is set to the width of the device.</a:t>
            </a:r>
          </a:p>
          <a:p>
            <a:pPr algn="l">
              <a:spcBef>
                <a:spcPts val="300"/>
              </a:spcBef>
              <a:buFont typeface="Arial" panose="020B0604020202020204" pitchFamily="34" charset="0"/>
              <a:buChar char="•"/>
            </a:pPr>
            <a:r>
              <a:rPr lang="en-US" b="1" i="0" dirty="0">
                <a:solidFill>
                  <a:srgbClr val="404040"/>
                </a:solidFill>
                <a:effectLst/>
                <a:latin typeface="Inter"/>
              </a:rPr>
              <a:t>initial-scale=1.0</a:t>
            </a:r>
            <a:r>
              <a:rPr lang="en-US" b="0" i="0" dirty="0">
                <a:solidFill>
                  <a:srgbClr val="404040"/>
                </a:solidFill>
                <a:effectLst/>
                <a:latin typeface="Inter"/>
              </a:rPr>
              <a:t>: The page is initially displayed at 100% of its size.</a:t>
            </a:r>
          </a:p>
          <a:p>
            <a:pPr algn="l">
              <a:spcBef>
                <a:spcPts val="300"/>
              </a:spcBef>
              <a:buFont typeface="Arial" panose="020B0604020202020204" pitchFamily="34" charset="0"/>
              <a:buChar char="•"/>
            </a:pPr>
            <a:r>
              <a:rPr lang="en-US" b="1" i="0" dirty="0">
                <a:solidFill>
                  <a:srgbClr val="404040"/>
                </a:solidFill>
                <a:effectLst/>
                <a:latin typeface="Inter"/>
              </a:rPr>
              <a:t>maximum-scale=1.0</a:t>
            </a:r>
            <a:r>
              <a:rPr lang="en-US" b="0" i="0" dirty="0">
                <a:solidFill>
                  <a:srgbClr val="404040"/>
                </a:solidFill>
                <a:effectLst/>
                <a:latin typeface="Inter"/>
              </a:rPr>
              <a:t>: The user cannot zoom in beyond 100%.</a:t>
            </a:r>
          </a:p>
          <a:p>
            <a:pPr algn="l">
              <a:spcBef>
                <a:spcPts val="300"/>
              </a:spcBef>
              <a:buFont typeface="Arial" panose="020B0604020202020204" pitchFamily="34" charset="0"/>
              <a:buChar char="•"/>
            </a:pPr>
            <a:r>
              <a:rPr lang="en-US" b="1" i="0" dirty="0">
                <a:solidFill>
                  <a:srgbClr val="404040"/>
                </a:solidFill>
                <a:effectLst/>
                <a:latin typeface="Inter"/>
              </a:rPr>
              <a:t>user-scalable=no</a:t>
            </a:r>
            <a:r>
              <a:rPr lang="en-US" b="0" i="0" dirty="0">
                <a:solidFill>
                  <a:srgbClr val="404040"/>
                </a:solidFill>
                <a:effectLst/>
                <a:latin typeface="Inter"/>
              </a:rPr>
              <a:t>: The user is not allowed to zoom in or out.</a:t>
            </a:r>
          </a:p>
        </p:txBody>
      </p:sp>
      <p:sp>
        <p:nvSpPr>
          <p:cNvPr id="4" name="Slide Number Placeholder 3"/>
          <p:cNvSpPr>
            <a:spLocks noGrp="1"/>
          </p:cNvSpPr>
          <p:nvPr>
            <p:ph type="sldNum" sz="quarter" idx="5"/>
          </p:nvPr>
        </p:nvSpPr>
        <p:spPr/>
        <p:txBody>
          <a:bodyPr/>
          <a:lstStyle/>
          <a:p>
            <a:fld id="{8FBF27BA-BE48-4F7F-B3F3-34C2A37D9121}" type="slidenum">
              <a:rPr lang="en-US" smtClean="0"/>
              <a:t>4</a:t>
            </a:fld>
            <a:endParaRPr lang="en-US"/>
          </a:p>
        </p:txBody>
      </p:sp>
    </p:spTree>
    <p:extLst>
      <p:ext uri="{BB962C8B-B14F-4D97-AF65-F5344CB8AC3E}">
        <p14:creationId xmlns:p14="http://schemas.microsoft.com/office/powerpoint/2010/main" val="215787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(odd)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red;</a:t>
            </a:r>
          </a:p>
          <a:p>
            <a:pPr>
              <a:lnSpc>
                <a:spcPts val="2250"/>
              </a:lnSpc>
            </a:pPr>
            <a:r>
              <a:rPr lang="en-US" b="0" dirty="0">
                <a:solidFill>
                  <a:srgbClr val="D4D4D4"/>
                </a:solidFill>
                <a:effectLst/>
                <a:latin typeface="Consolas" panose="020B0609020204030204" pitchFamily="49" charset="0"/>
              </a:rPr>
              <a:t>}</a:t>
            </a:r>
          </a:p>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(even)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blue;</a:t>
            </a:r>
          </a:p>
          <a:p>
            <a:pPr>
              <a:lnSpc>
                <a:spcPts val="2250"/>
              </a:lnSpc>
            </a:pPr>
            <a:r>
              <a:rPr lang="en-US" b="0" dirty="0">
                <a:solidFill>
                  <a:srgbClr val="D4D4D4"/>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11</a:t>
            </a:fld>
            <a:endParaRPr lang="en-US"/>
          </a:p>
        </p:txBody>
      </p:sp>
    </p:spTree>
    <p:extLst>
      <p:ext uri="{BB962C8B-B14F-4D97-AF65-F5344CB8AC3E}">
        <p14:creationId xmlns:p14="http://schemas.microsoft.com/office/powerpoint/2010/main" val="639175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flex-flow</a:t>
            </a:r>
          </a:p>
          <a:p>
            <a:r>
              <a:rPr lang="en-US" dirty="0"/>
              <a:t>This is a shorthand property for flex-direction and flex-wrap.</a:t>
            </a:r>
          </a:p>
        </p:txBody>
      </p:sp>
      <p:sp>
        <p:nvSpPr>
          <p:cNvPr id="4" name="Slide Number Placeholder 3"/>
          <p:cNvSpPr>
            <a:spLocks noGrp="1"/>
          </p:cNvSpPr>
          <p:nvPr>
            <p:ph type="sldNum" sz="quarter" idx="5"/>
          </p:nvPr>
        </p:nvSpPr>
        <p:spPr/>
        <p:txBody>
          <a:bodyPr/>
          <a:lstStyle/>
          <a:p>
            <a:fld id="{8FBF27BA-BE48-4F7F-B3F3-34C2A37D9121}" type="slidenum">
              <a:rPr lang="en-US" smtClean="0"/>
              <a:t>13</a:t>
            </a:fld>
            <a:endParaRPr lang="en-US"/>
          </a:p>
        </p:txBody>
      </p:sp>
    </p:spTree>
    <p:extLst>
      <p:ext uri="{BB962C8B-B14F-4D97-AF65-F5344CB8AC3E}">
        <p14:creationId xmlns:p14="http://schemas.microsoft.com/office/powerpoint/2010/main" val="2681513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8FAFF"/>
                </a:solidFill>
                <a:effectLst/>
                <a:latin typeface="DeepSeek-CJK-patch"/>
              </a:rPr>
              <a:t>The </a:t>
            </a:r>
            <a:r>
              <a:rPr lang="en-US" dirty="0"/>
              <a:t>baseline</a:t>
            </a:r>
            <a:r>
              <a:rPr lang="en-US" b="0" i="0" dirty="0">
                <a:solidFill>
                  <a:srgbClr val="F8FAFF"/>
                </a:solidFill>
                <a:effectLst/>
                <a:latin typeface="DeepSeek-CJK-patch"/>
              </a:rPr>
              <a:t> value aligns flex items based on the </a:t>
            </a:r>
            <a:r>
              <a:rPr lang="en-US" b="1" i="0" dirty="0">
                <a:solidFill>
                  <a:srgbClr val="F8FAFF"/>
                </a:solidFill>
                <a:effectLst/>
                <a:latin typeface="DeepSeek-CJK-patch"/>
              </a:rPr>
              <a:t>baseline of their text content</a:t>
            </a:r>
            <a:r>
              <a:rPr lang="en-US" b="0" i="0" dirty="0">
                <a:solidFill>
                  <a:srgbClr val="F8FAFF"/>
                </a:solidFill>
                <a:effectLst/>
                <a:latin typeface="DeepSeek-CJK-patch"/>
              </a:rPr>
              <a:t>, rather than their container or their own height. </a:t>
            </a:r>
          </a:p>
          <a:p>
            <a:r>
              <a:rPr lang="en-US" b="0" i="0" dirty="0">
                <a:solidFill>
                  <a:srgbClr val="F8FAFF"/>
                </a:solidFill>
                <a:effectLst/>
                <a:latin typeface="DeepSeek-CJK-patch"/>
              </a:rPr>
              <a:t>This is useful when you want text in different-sized items to line up neatly.</a:t>
            </a: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19</a:t>
            </a:fld>
            <a:endParaRPr lang="en-US"/>
          </a:p>
        </p:txBody>
      </p:sp>
    </p:spTree>
    <p:extLst>
      <p:ext uri="{BB962C8B-B14F-4D97-AF65-F5344CB8AC3E}">
        <p14:creationId xmlns:p14="http://schemas.microsoft.com/office/powerpoint/2010/main" val="3819402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align-items </a:t>
            </a:r>
            <a:r>
              <a:rPr lang="en-US" dirty="0">
                <a:effectLst/>
                <a:sym typeface="Wingdings" panose="05000000000000000000" pitchFamily="2" charset="2"/>
              </a:rPr>
              <a:t> </a:t>
            </a:r>
            <a:r>
              <a:rPr lang="en-US" dirty="0">
                <a:effectLst/>
              </a:rPr>
              <a:t>Single line of items + All flex items + Aligns items within a single line along the cross axis.</a:t>
            </a:r>
          </a:p>
          <a:p>
            <a:r>
              <a:rPr lang="en-US" dirty="0">
                <a:effectLst/>
              </a:rPr>
              <a:t>align-content </a:t>
            </a:r>
            <a:r>
              <a:rPr lang="en-US" dirty="0">
                <a:effectLst/>
                <a:sym typeface="Wingdings" panose="05000000000000000000" pitchFamily="2" charset="2"/>
              </a:rPr>
              <a:t> </a:t>
            </a:r>
            <a:r>
              <a:rPr lang="en-US" dirty="0">
                <a:effectLst/>
              </a:rPr>
              <a:t>Multiple lines +Flex lines (rows/columns) +Aligns the entire set of lines when there is extra space in the cross axis.</a:t>
            </a:r>
            <a:br>
              <a:rPr lang="en-US" dirty="0"/>
            </a:b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20</a:t>
            </a:fld>
            <a:endParaRPr lang="en-US"/>
          </a:p>
        </p:txBody>
      </p:sp>
    </p:spTree>
    <p:extLst>
      <p:ext uri="{BB962C8B-B14F-4D97-AF65-F5344CB8AC3E}">
        <p14:creationId xmlns:p14="http://schemas.microsoft.com/office/powerpoint/2010/main" val="189668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t>
            </a:r>
            <a:r>
              <a:rPr lang="en-US" dirty="0">
                <a:sym typeface="Wingdings" panose="05000000000000000000" pitchFamily="2" charset="2"/>
              </a:rPr>
              <a:t></a:t>
            </a:r>
            <a:r>
              <a:rPr lang="en-US" dirty="0"/>
              <a:t>largest one ==&gt; go to last </a:t>
            </a:r>
          </a:p>
        </p:txBody>
      </p:sp>
      <p:sp>
        <p:nvSpPr>
          <p:cNvPr id="4" name="Slide Number Placeholder 3"/>
          <p:cNvSpPr>
            <a:spLocks noGrp="1"/>
          </p:cNvSpPr>
          <p:nvPr>
            <p:ph type="sldNum" sz="quarter" idx="5"/>
          </p:nvPr>
        </p:nvSpPr>
        <p:spPr/>
        <p:txBody>
          <a:bodyPr/>
          <a:lstStyle/>
          <a:p>
            <a:fld id="{8FBF27BA-BE48-4F7F-B3F3-34C2A37D9121}" type="slidenum">
              <a:rPr lang="en-US" smtClean="0"/>
              <a:t>23</a:t>
            </a:fld>
            <a:endParaRPr lang="en-US"/>
          </a:p>
        </p:txBody>
      </p:sp>
    </p:spTree>
    <p:extLst>
      <p:ext uri="{BB962C8B-B14F-4D97-AF65-F5344CB8AC3E}">
        <p14:creationId xmlns:p14="http://schemas.microsoft.com/office/powerpoint/2010/main" val="2538558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9765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6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1459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84367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3613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12/21/2025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63179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12/21/2025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8999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17786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8358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78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12/21/2025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441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anmarcott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p:txBody>
          <a:bodyPr/>
          <a:lstStyle/>
          <a:p>
            <a:r>
              <a:rPr lang="en-US" b="1" dirty="0" err="1">
                <a:solidFill>
                  <a:schemeClr val="accent1">
                    <a:lumMod val="75000"/>
                  </a:schemeClr>
                </a:solidFill>
                <a:latin typeface="Freestyle Script" panose="030804020302050B0404" pitchFamily="66" charset="0"/>
              </a:rPr>
              <a:t>Eng</a:t>
            </a:r>
            <a:r>
              <a:rPr lang="en-US" b="1" dirty="0">
                <a:solidFill>
                  <a:schemeClr val="accent1">
                    <a:lumMod val="75000"/>
                  </a:schemeClr>
                </a:solidFill>
                <a:latin typeface="Freestyle Script" panose="030804020302050B0404" pitchFamily="66" charset="0"/>
              </a:rPr>
              <a:t>/</a:t>
            </a:r>
            <a:r>
              <a:rPr lang="en-US" b="1" dirty="0" err="1">
                <a:solidFill>
                  <a:schemeClr val="accent1">
                    <a:lumMod val="75000"/>
                  </a:schemeClr>
                </a:solidFill>
                <a:latin typeface="Freestyle Script" panose="030804020302050B0404" pitchFamily="66" charset="0"/>
              </a:rPr>
              <a:t>Ryhab</a:t>
            </a:r>
            <a:r>
              <a:rPr lang="en-US" b="1" dirty="0">
                <a:solidFill>
                  <a:schemeClr val="accent1">
                    <a:lumMod val="75000"/>
                  </a:schemeClr>
                </a:solidFill>
                <a:latin typeface="Freestyle Script" panose="030804020302050B0404" pitchFamily="66" charset="0"/>
              </a:rPr>
              <a:t> </a:t>
            </a:r>
            <a:r>
              <a:rPr lang="en-US" b="1" dirty="0" err="1">
                <a:solidFill>
                  <a:schemeClr val="accent1">
                    <a:lumMod val="75000"/>
                  </a:schemeClr>
                </a:solidFill>
                <a:latin typeface="Freestyle Script" panose="030804020302050B0404" pitchFamily="66" charset="0"/>
              </a:rPr>
              <a:t>farouq</a:t>
            </a:r>
            <a:endParaRPr lang="en-US" b="1" dirty="0">
              <a:solidFill>
                <a:schemeClr val="accent1">
                  <a:lumMod val="75000"/>
                </a:schemeClr>
              </a:solidFill>
              <a:latin typeface="Freestyle Script" panose="030804020302050B0404" pitchFamily="66" charset="0"/>
            </a:endParaRPr>
          </a:p>
        </p:txBody>
      </p:sp>
    </p:spTree>
    <p:extLst>
      <p:ext uri="{BB962C8B-B14F-4D97-AF65-F5344CB8AC3E}">
        <p14:creationId xmlns:p14="http://schemas.microsoft.com/office/powerpoint/2010/main" val="340645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088-B3CA-2041-7093-2682323F54AE}"/>
              </a:ext>
            </a:extLst>
          </p:cNvPr>
          <p:cNvSpPr>
            <a:spLocks noGrp="1"/>
          </p:cNvSpPr>
          <p:nvPr>
            <p:ph type="title"/>
          </p:nvPr>
        </p:nvSpPr>
        <p:spPr/>
        <p:txBody>
          <a:bodyPr/>
          <a:lstStyle/>
          <a:p>
            <a:r>
              <a:rPr lang="en-US" dirty="0"/>
              <a:t>Meaning of RWD</a:t>
            </a:r>
          </a:p>
        </p:txBody>
      </p:sp>
      <p:sp>
        <p:nvSpPr>
          <p:cNvPr id="3" name="Content Placeholder 2">
            <a:extLst>
              <a:ext uri="{FF2B5EF4-FFF2-40B4-BE49-F238E27FC236}">
                <a16:creationId xmlns:a16="http://schemas.microsoft.com/office/drawing/2014/main" id="{3C5C82A8-C3D1-8863-E7E8-AC72A9011DC2}"/>
              </a:ext>
            </a:extLst>
          </p:cNvPr>
          <p:cNvSpPr>
            <a:spLocks noGrp="1"/>
          </p:cNvSpPr>
          <p:nvPr>
            <p:ph idx="1"/>
          </p:nvPr>
        </p:nvSpPr>
        <p:spPr/>
        <p:txBody>
          <a:bodyPr>
            <a:normAutofit/>
          </a:bodyPr>
          <a:lstStyle/>
          <a:p>
            <a:r>
              <a:rPr lang="en-US" b="0" i="0" dirty="0">
                <a:solidFill>
                  <a:srgbClr val="333333"/>
                </a:solidFill>
                <a:effectLst/>
              </a:rPr>
              <a:t>Responsive design teams create a single site to support many devices, but need to consider content, design and performance across devices to ensure usability</a:t>
            </a:r>
            <a:r>
              <a:rPr lang="en-US" sz="1800" b="0" i="0" dirty="0">
                <a:solidFill>
                  <a:srgbClr val="333333"/>
                </a:solidFill>
                <a:effectLst/>
              </a:rPr>
              <a:t>.</a:t>
            </a:r>
          </a:p>
          <a:p>
            <a:endParaRPr lang="en-US" sz="1800" dirty="0"/>
          </a:p>
        </p:txBody>
      </p:sp>
      <p:pic>
        <p:nvPicPr>
          <p:cNvPr id="4" name="Picture 3">
            <a:extLst>
              <a:ext uri="{FF2B5EF4-FFF2-40B4-BE49-F238E27FC236}">
                <a16:creationId xmlns:a16="http://schemas.microsoft.com/office/drawing/2014/main" id="{0B31C7FB-BBAD-ECB9-AB9F-04F3367607B4}"/>
              </a:ext>
            </a:extLst>
          </p:cNvPr>
          <p:cNvPicPr>
            <a:picLocks noChangeAspect="1"/>
          </p:cNvPicPr>
          <p:nvPr/>
        </p:nvPicPr>
        <p:blipFill>
          <a:blip r:embed="rId2"/>
          <a:stretch>
            <a:fillRect/>
          </a:stretch>
        </p:blipFill>
        <p:spPr>
          <a:xfrm>
            <a:off x="162838" y="2836296"/>
            <a:ext cx="11661732" cy="2638425"/>
          </a:xfrm>
          <a:prstGeom prst="rect">
            <a:avLst/>
          </a:prstGeom>
        </p:spPr>
      </p:pic>
    </p:spTree>
    <p:extLst>
      <p:ext uri="{BB962C8B-B14F-4D97-AF65-F5344CB8AC3E}">
        <p14:creationId xmlns:p14="http://schemas.microsoft.com/office/powerpoint/2010/main" val="107328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58C-FDF6-2145-090F-7542400C3891}"/>
              </a:ext>
            </a:extLst>
          </p:cNvPr>
          <p:cNvSpPr>
            <a:spLocks noGrp="1"/>
          </p:cNvSpPr>
          <p:nvPr>
            <p:ph type="title"/>
          </p:nvPr>
        </p:nvSpPr>
        <p:spPr/>
        <p:txBody>
          <a:bodyPr/>
          <a:lstStyle/>
          <a:p>
            <a:r>
              <a:rPr lang="en-US" dirty="0"/>
              <a:t>RWD</a:t>
            </a:r>
          </a:p>
        </p:txBody>
      </p:sp>
      <p:sp>
        <p:nvSpPr>
          <p:cNvPr id="3" name="Content Placeholder 2">
            <a:extLst>
              <a:ext uri="{FF2B5EF4-FFF2-40B4-BE49-F238E27FC236}">
                <a16:creationId xmlns:a16="http://schemas.microsoft.com/office/drawing/2014/main" id="{130DAB99-CF21-BC05-1F32-2ACC4D1F59FA}"/>
              </a:ext>
            </a:extLst>
          </p:cNvPr>
          <p:cNvSpPr>
            <a:spLocks noGrp="1"/>
          </p:cNvSpPr>
          <p:nvPr>
            <p:ph idx="1"/>
          </p:nvPr>
        </p:nvSpPr>
        <p:spPr/>
        <p:txBody>
          <a:bodyPr/>
          <a:lstStyle/>
          <a:p>
            <a:r>
              <a:rPr lang="en-US" dirty="0"/>
              <a:t>Responsive Web Design was first introduced by Ethan Marcotte in 2009.</a:t>
            </a:r>
          </a:p>
          <a:p>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Welcome to Ethan Marcotte’s website — Ethan Marcotte</a:t>
            </a:r>
            <a:endParaRPr lang="en-US" dirty="0">
              <a:solidFill>
                <a:schemeClr val="accent1">
                  <a:lumMod val="75000"/>
                </a:schemeClr>
              </a:solidFill>
            </a:endParaRPr>
          </a:p>
          <a:p>
            <a:endParaRPr lang="en-US" dirty="0"/>
          </a:p>
          <a:p>
            <a:endParaRPr lang="en-US" dirty="0"/>
          </a:p>
          <a:p>
            <a:pPr algn="ctr"/>
            <a:r>
              <a:rPr lang="en-US" sz="3600" b="1" dirty="0">
                <a:solidFill>
                  <a:schemeClr val="accent2">
                    <a:lumMod val="75000"/>
                  </a:schemeClr>
                </a:solidFill>
              </a:rPr>
              <a:t>Think responsively.. Think Mobile First</a:t>
            </a:r>
          </a:p>
          <a:p>
            <a:endParaRPr lang="en-US" dirty="0"/>
          </a:p>
        </p:txBody>
      </p:sp>
    </p:spTree>
    <p:extLst>
      <p:ext uri="{BB962C8B-B14F-4D97-AF65-F5344CB8AC3E}">
        <p14:creationId xmlns:p14="http://schemas.microsoft.com/office/powerpoint/2010/main" val="260458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AB44-BF45-9CCF-7607-AADE539C43BB}"/>
              </a:ext>
            </a:extLst>
          </p:cNvPr>
          <p:cNvSpPr>
            <a:spLocks noGrp="1"/>
          </p:cNvSpPr>
          <p:nvPr>
            <p:ph type="title"/>
          </p:nvPr>
        </p:nvSpPr>
        <p:spPr/>
        <p:txBody>
          <a:bodyPr/>
          <a:lstStyle/>
          <a:p>
            <a:r>
              <a:rPr lang="en-US" dirty="0"/>
              <a:t>Viewport</a:t>
            </a:r>
          </a:p>
        </p:txBody>
      </p:sp>
      <p:sp>
        <p:nvSpPr>
          <p:cNvPr id="3" name="Content Placeholder 2">
            <a:extLst>
              <a:ext uri="{FF2B5EF4-FFF2-40B4-BE49-F238E27FC236}">
                <a16:creationId xmlns:a16="http://schemas.microsoft.com/office/drawing/2014/main" id="{02F967C7-A91B-619A-67B6-7D234D3C8CA8}"/>
              </a:ext>
            </a:extLst>
          </p:cNvPr>
          <p:cNvSpPr>
            <a:spLocks noGrp="1"/>
          </p:cNvSpPr>
          <p:nvPr>
            <p:ph idx="1"/>
          </p:nvPr>
        </p:nvSpPr>
        <p:spPr/>
        <p:txBody>
          <a:bodyPr/>
          <a:lstStyle/>
          <a:p>
            <a:r>
              <a:rPr lang="en-US" dirty="0"/>
              <a:t>Viewport is defined area to display website independent on device screen.</a:t>
            </a:r>
          </a:p>
          <a:p>
            <a:r>
              <a:rPr lang="en-US" dirty="0"/>
              <a:t>Identify and control viewport and its initial scale factor to override </a:t>
            </a:r>
            <a:r>
              <a:rPr lang="en-US" dirty="0" err="1"/>
              <a:t>useragent</a:t>
            </a:r>
            <a:r>
              <a:rPr lang="en-US" dirty="0"/>
              <a:t>.</a:t>
            </a:r>
          </a:p>
          <a:p>
            <a:endParaRPr lang="en-US" dirty="0"/>
          </a:p>
          <a:p>
            <a:pPr algn="ctr"/>
            <a:r>
              <a:rPr lang="en-US" sz="2800" b="1" dirty="0">
                <a:solidFill>
                  <a:schemeClr val="accent2">
                    <a:lumMod val="75000"/>
                  </a:schemeClr>
                </a:solidFill>
              </a:rPr>
              <a:t>&lt;meta name=“viewport” content=“”/&gt;</a:t>
            </a:r>
          </a:p>
          <a:p>
            <a:endParaRPr lang="en-US" dirty="0"/>
          </a:p>
          <a:p>
            <a:endParaRPr lang="en-US" dirty="0"/>
          </a:p>
        </p:txBody>
      </p:sp>
    </p:spTree>
    <p:extLst>
      <p:ext uri="{BB962C8B-B14F-4D97-AF65-F5344CB8AC3E}">
        <p14:creationId xmlns:p14="http://schemas.microsoft.com/office/powerpoint/2010/main" val="19504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B5B3-3F17-7779-F414-5F6D6BD7E88B}"/>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5855D0D-033A-CB9D-CD82-FC475DF5E337}"/>
              </a:ext>
            </a:extLst>
          </p:cNvPr>
          <p:cNvSpPr>
            <a:spLocks noGrp="1"/>
          </p:cNvSpPr>
          <p:nvPr>
            <p:ph idx="1"/>
          </p:nvPr>
        </p:nvSpPr>
        <p:spPr/>
        <p:txBody>
          <a:bodyPr>
            <a:normAutofit/>
          </a:bodyPr>
          <a:lstStyle/>
          <a:p>
            <a:pPr>
              <a:buFont typeface="Wingdings" panose="05000000000000000000" pitchFamily="2" charset="2"/>
              <a:buChar char="§"/>
            </a:pPr>
            <a:r>
              <a:rPr lang="en-US" sz="2400" b="1" dirty="0">
                <a:solidFill>
                  <a:schemeClr val="accent2">
                    <a:lumMod val="75000"/>
                  </a:schemeClr>
                </a:solidFill>
              </a:rPr>
              <a:t>Responsive design </a:t>
            </a:r>
            <a:r>
              <a:rPr lang="en-US" sz="2400" dirty="0"/>
              <a:t>is where website isn’t fixed with single size, It responds to users’ device automatically </a:t>
            </a:r>
          </a:p>
          <a:p>
            <a:pPr>
              <a:buFont typeface="Wingdings" panose="05000000000000000000" pitchFamily="2" charset="2"/>
              <a:buChar char="§"/>
            </a:pPr>
            <a:r>
              <a:rPr lang="en-US" sz="2400" b="1" dirty="0">
                <a:solidFill>
                  <a:schemeClr val="accent2">
                    <a:lumMod val="75000"/>
                  </a:schemeClr>
                </a:solidFill>
              </a:rPr>
              <a:t>Adaptive design </a:t>
            </a:r>
            <a:r>
              <a:rPr lang="en-US" sz="2400" dirty="0"/>
              <a:t>is where created website redesign itself as per the device size</a:t>
            </a:r>
          </a:p>
          <a:p>
            <a:pPr>
              <a:buFont typeface="Wingdings" panose="05000000000000000000" pitchFamily="2" charset="2"/>
              <a:buChar char="§"/>
            </a:pPr>
            <a:r>
              <a:rPr lang="en-US" sz="2400" b="1" dirty="0">
                <a:solidFill>
                  <a:schemeClr val="accent2">
                    <a:lumMod val="75000"/>
                  </a:schemeClr>
                </a:solidFill>
              </a:rPr>
              <a:t>Negative space </a:t>
            </a:r>
            <a:r>
              <a:rPr lang="en-US" sz="2400" dirty="0"/>
              <a:t>is empty space between elements to it more readable &amp; standout </a:t>
            </a:r>
          </a:p>
          <a:p>
            <a:pPr marL="0" indent="0">
              <a:buNone/>
            </a:pPr>
            <a:r>
              <a:rPr lang="en-US" sz="2400" dirty="0"/>
              <a:t>            ▻ padding or margins are great strategy to create it</a:t>
            </a:r>
          </a:p>
        </p:txBody>
      </p:sp>
    </p:spTree>
    <p:extLst>
      <p:ext uri="{BB962C8B-B14F-4D97-AF65-F5344CB8AC3E}">
        <p14:creationId xmlns:p14="http://schemas.microsoft.com/office/powerpoint/2010/main" val="140418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226F-F0B5-FCA5-8D63-AFDDB6A08394}"/>
              </a:ext>
            </a:extLst>
          </p:cNvPr>
          <p:cNvSpPr>
            <a:spLocks noGrp="1"/>
          </p:cNvSpPr>
          <p:nvPr>
            <p:ph type="title"/>
          </p:nvPr>
        </p:nvSpPr>
        <p:spPr/>
        <p:txBody>
          <a:bodyPr/>
          <a:lstStyle/>
          <a:p>
            <a:r>
              <a:rPr lang="en-US" dirty="0"/>
              <a:t>Web Layout</a:t>
            </a:r>
          </a:p>
        </p:txBody>
      </p:sp>
      <p:pic>
        <p:nvPicPr>
          <p:cNvPr id="4" name="Content Placeholder 3">
            <a:extLst>
              <a:ext uri="{FF2B5EF4-FFF2-40B4-BE49-F238E27FC236}">
                <a16:creationId xmlns:a16="http://schemas.microsoft.com/office/drawing/2014/main" id="{A592C9D9-1ACA-6EA1-27F3-471D1C7096DA}"/>
              </a:ext>
            </a:extLst>
          </p:cNvPr>
          <p:cNvPicPr>
            <a:picLocks noGrp="1" noChangeAspect="1"/>
          </p:cNvPicPr>
          <p:nvPr>
            <p:ph idx="1"/>
          </p:nvPr>
        </p:nvPicPr>
        <p:blipFill>
          <a:blip r:embed="rId2"/>
          <a:stretch>
            <a:fillRect/>
          </a:stretch>
        </p:blipFill>
        <p:spPr>
          <a:xfrm>
            <a:off x="1601788" y="2009775"/>
            <a:ext cx="9048750" cy="3695700"/>
          </a:xfrm>
          <a:prstGeom prst="rect">
            <a:avLst/>
          </a:prstGeom>
        </p:spPr>
      </p:pic>
    </p:spTree>
    <p:extLst>
      <p:ext uri="{BB962C8B-B14F-4D97-AF65-F5344CB8AC3E}">
        <p14:creationId xmlns:p14="http://schemas.microsoft.com/office/powerpoint/2010/main" val="22353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0E14-C790-C637-5060-5D1E9B5FF4DE}"/>
              </a:ext>
            </a:extLst>
          </p:cNvPr>
          <p:cNvSpPr>
            <a:spLocks noGrp="1"/>
          </p:cNvSpPr>
          <p:nvPr>
            <p:ph type="title"/>
          </p:nvPr>
        </p:nvSpPr>
        <p:spPr/>
        <p:txBody>
          <a:bodyPr/>
          <a:lstStyle/>
          <a:p>
            <a:r>
              <a:rPr lang="en-US" dirty="0"/>
              <a:t>RWD Fundamentals </a:t>
            </a:r>
          </a:p>
        </p:txBody>
      </p:sp>
      <p:sp>
        <p:nvSpPr>
          <p:cNvPr id="3" name="Content Placeholder 2">
            <a:extLst>
              <a:ext uri="{FF2B5EF4-FFF2-40B4-BE49-F238E27FC236}">
                <a16:creationId xmlns:a16="http://schemas.microsoft.com/office/drawing/2014/main" id="{7370ED7D-004E-2250-95A3-9F8FDDFEBF3E}"/>
              </a:ext>
            </a:extLst>
          </p:cNvPr>
          <p:cNvSpPr>
            <a:spLocks noGrp="1"/>
          </p:cNvSpPr>
          <p:nvPr>
            <p:ph idx="1"/>
          </p:nvPr>
        </p:nvSpPr>
        <p:spPr/>
        <p:txBody>
          <a:bodyPr/>
          <a:lstStyle/>
          <a:p>
            <a:pPr>
              <a:buFont typeface="Wingdings" panose="05000000000000000000" pitchFamily="2" charset="2"/>
              <a:buChar char="§"/>
            </a:pPr>
            <a:r>
              <a:rPr lang="en-US" dirty="0"/>
              <a:t>Flexbox</a:t>
            </a:r>
          </a:p>
          <a:p>
            <a:pPr>
              <a:buFont typeface="Wingdings" panose="05000000000000000000" pitchFamily="2" charset="2"/>
              <a:buChar char="§"/>
            </a:pPr>
            <a:r>
              <a:rPr lang="en-US" dirty="0"/>
              <a:t>Grid system</a:t>
            </a:r>
          </a:p>
          <a:p>
            <a:pPr>
              <a:buFont typeface="Wingdings" panose="05000000000000000000" pitchFamily="2" charset="2"/>
              <a:buChar char="§"/>
            </a:pPr>
            <a:r>
              <a:rPr lang="en-US" dirty="0"/>
              <a:t>Media queries</a:t>
            </a:r>
          </a:p>
          <a:p>
            <a:pPr>
              <a:buFont typeface="Wingdings" panose="05000000000000000000" pitchFamily="2" charset="2"/>
              <a:buChar char="§"/>
            </a:pPr>
            <a:r>
              <a:rPr lang="en-US" dirty="0"/>
              <a:t>Responsive frameworks ‘bootstrap’</a:t>
            </a:r>
          </a:p>
        </p:txBody>
      </p:sp>
    </p:spTree>
    <p:extLst>
      <p:ext uri="{BB962C8B-B14F-4D97-AF65-F5344CB8AC3E}">
        <p14:creationId xmlns:p14="http://schemas.microsoft.com/office/powerpoint/2010/main" val="39845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Flexbox</a:t>
            </a:r>
          </a:p>
        </p:txBody>
      </p:sp>
    </p:spTree>
    <p:extLst>
      <p:ext uri="{BB962C8B-B14F-4D97-AF65-F5344CB8AC3E}">
        <p14:creationId xmlns:p14="http://schemas.microsoft.com/office/powerpoint/2010/main" val="2513449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3600" b="1" dirty="0"/>
              <a:t>One dimensional layout model </a:t>
            </a:r>
            <a:r>
              <a:rPr lang="en-US" sz="2400" dirty="0"/>
              <a:t>.</a:t>
            </a:r>
          </a:p>
          <a:p>
            <a:pPr>
              <a:buFont typeface="Wingdings" panose="05000000000000000000" pitchFamily="2" charset="2"/>
              <a:buChar char="§"/>
            </a:pPr>
            <a:r>
              <a:rPr lang="en-US" dirty="0"/>
              <a:t>Flexible and efficient layouts</a:t>
            </a:r>
          </a:p>
          <a:p>
            <a:pPr>
              <a:buFont typeface="Wingdings" panose="05000000000000000000" pitchFamily="2" charset="2"/>
              <a:buChar char="§"/>
            </a:pPr>
            <a:r>
              <a:rPr lang="en-US" dirty="0"/>
              <a:t>Distribute space among items</a:t>
            </a:r>
          </a:p>
          <a:p>
            <a:pPr>
              <a:buFont typeface="Wingdings" panose="05000000000000000000" pitchFamily="2" charset="2"/>
              <a:buChar char="§"/>
            </a:pPr>
            <a:r>
              <a:rPr lang="en-US" dirty="0"/>
              <a:t>Control their alignment</a:t>
            </a:r>
          </a:p>
        </p:txBody>
      </p:sp>
    </p:spTree>
    <p:extLst>
      <p:ext uri="{BB962C8B-B14F-4D97-AF65-F5344CB8AC3E}">
        <p14:creationId xmlns:p14="http://schemas.microsoft.com/office/powerpoint/2010/main" val="1291721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Why Flexbox ?</a:t>
            </a:r>
          </a:p>
        </p:txBody>
      </p:sp>
      <p:sp>
        <p:nvSpPr>
          <p:cNvPr id="3" name="Content Placeholder 2">
            <a:extLst>
              <a:ext uri="{FF2B5EF4-FFF2-40B4-BE49-F238E27FC236}">
                <a16:creationId xmlns:a16="http://schemas.microsoft.com/office/drawing/2014/main" id="{FDE41732-9437-4665-AF25-E0B10758F4F0}"/>
              </a:ext>
            </a:extLst>
          </p:cNvPr>
          <p:cNvSpPr>
            <a:spLocks noGrp="1"/>
          </p:cNvSpPr>
          <p:nvPr>
            <p:ph idx="1"/>
          </p:nvPr>
        </p:nvSpPr>
        <p:spPr/>
        <p:txBody>
          <a:bodyPr/>
          <a:lstStyle/>
          <a:p>
            <a:pPr>
              <a:buFont typeface="Wingdings" panose="05000000000000000000" pitchFamily="2" charset="2"/>
              <a:buChar char="Ø"/>
            </a:pPr>
            <a:r>
              <a:rPr lang="en-US" dirty="0"/>
              <a:t>A lot of flexibility </a:t>
            </a:r>
          </a:p>
          <a:p>
            <a:pPr>
              <a:buFont typeface="Wingdings" panose="05000000000000000000" pitchFamily="2" charset="2"/>
              <a:buChar char="Ø"/>
            </a:pPr>
            <a:r>
              <a:rPr lang="en-US" dirty="0"/>
              <a:t>Arrange items</a:t>
            </a:r>
          </a:p>
          <a:p>
            <a:pPr>
              <a:buFont typeface="Wingdings" panose="05000000000000000000" pitchFamily="2" charset="2"/>
              <a:buChar char="Ø"/>
            </a:pPr>
            <a:r>
              <a:rPr lang="en-US" dirty="0"/>
              <a:t>Spacing</a:t>
            </a:r>
          </a:p>
          <a:p>
            <a:pPr>
              <a:buFont typeface="Wingdings" panose="05000000000000000000" pitchFamily="2" charset="2"/>
              <a:buChar char="Ø"/>
            </a:pPr>
            <a:r>
              <a:rPr lang="en-US" dirty="0"/>
              <a:t>Alignment</a:t>
            </a:r>
          </a:p>
          <a:p>
            <a:pPr>
              <a:buFont typeface="Wingdings" panose="05000000000000000000" pitchFamily="2" charset="2"/>
              <a:buChar char="Ø"/>
            </a:pPr>
            <a:r>
              <a:rPr lang="en-US" dirty="0"/>
              <a:t>Order of items</a:t>
            </a:r>
          </a:p>
          <a:p>
            <a:pPr>
              <a:buFont typeface="Wingdings" panose="05000000000000000000" pitchFamily="2" charset="2"/>
              <a:buChar char="Ø"/>
            </a:pPr>
            <a:r>
              <a:rPr lang="en-US" dirty="0"/>
              <a:t>Bootstrap is built on top of the flex layout</a:t>
            </a:r>
          </a:p>
        </p:txBody>
      </p:sp>
    </p:spTree>
    <p:extLst>
      <p:ext uri="{BB962C8B-B14F-4D97-AF65-F5344CB8AC3E}">
        <p14:creationId xmlns:p14="http://schemas.microsoft.com/office/powerpoint/2010/main" val="19847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Flex 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dirty="0"/>
              <a:t>Flex 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396194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Flexbox Axes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dirty="0"/>
              <a:t>Main axis</a:t>
            </a:r>
          </a:p>
          <a:p>
            <a:pPr>
              <a:buFont typeface="Wingdings" panose="05000000000000000000" pitchFamily="2" charset="2"/>
              <a:buChar char="Ø"/>
            </a:pPr>
            <a:r>
              <a:rPr lang="en-US" dirty="0"/>
              <a:t>Cross axis</a:t>
            </a:r>
          </a:p>
          <a:p>
            <a:pPr marL="0" indent="0">
              <a:buNone/>
            </a:pPr>
            <a:endParaRPr lang="en-US" dirty="0"/>
          </a:p>
        </p:txBody>
      </p:sp>
      <p:pic>
        <p:nvPicPr>
          <p:cNvPr id="4" name="Picture 3">
            <a:extLst>
              <a:ext uri="{FF2B5EF4-FFF2-40B4-BE49-F238E27FC236}">
                <a16:creationId xmlns:a16="http://schemas.microsoft.com/office/drawing/2014/main" id="{8C60D543-9A92-4E71-B9FB-9353A27C55C4}"/>
              </a:ext>
            </a:extLst>
          </p:cNvPr>
          <p:cNvPicPr>
            <a:picLocks noChangeAspect="1"/>
          </p:cNvPicPr>
          <p:nvPr/>
        </p:nvPicPr>
        <p:blipFill>
          <a:blip r:embed="rId2"/>
          <a:stretch>
            <a:fillRect/>
          </a:stretch>
        </p:blipFill>
        <p:spPr>
          <a:xfrm>
            <a:off x="1036320" y="2743200"/>
            <a:ext cx="9997440" cy="3494762"/>
          </a:xfrm>
          <a:prstGeom prst="rect">
            <a:avLst/>
          </a:prstGeom>
        </p:spPr>
      </p:pic>
    </p:spTree>
    <p:extLst>
      <p:ext uri="{BB962C8B-B14F-4D97-AF65-F5344CB8AC3E}">
        <p14:creationId xmlns:p14="http://schemas.microsoft.com/office/powerpoint/2010/main" val="219322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Flex Container Properties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dirty="0"/>
              <a:t>Display</a:t>
            </a:r>
          </a:p>
          <a:p>
            <a:pPr>
              <a:buFont typeface="Wingdings" panose="05000000000000000000" pitchFamily="2" charset="2"/>
              <a:buChar char="Ø"/>
            </a:pPr>
            <a:r>
              <a:rPr lang="en-US" dirty="0"/>
              <a:t>Flex-direction</a:t>
            </a:r>
          </a:p>
          <a:p>
            <a:pPr>
              <a:buFont typeface="Wingdings" panose="05000000000000000000" pitchFamily="2" charset="2"/>
              <a:buChar char="Ø"/>
            </a:pPr>
            <a:r>
              <a:rPr lang="en-US" dirty="0"/>
              <a:t>Flex-wrap</a:t>
            </a:r>
          </a:p>
          <a:p>
            <a:pPr>
              <a:buFont typeface="Wingdings" panose="05000000000000000000" pitchFamily="2" charset="2"/>
              <a:buChar char="Ø"/>
            </a:pPr>
            <a:r>
              <a:rPr lang="en-US" dirty="0"/>
              <a:t>Flex-flow</a:t>
            </a:r>
          </a:p>
          <a:p>
            <a:pPr>
              <a:buFont typeface="Wingdings" panose="05000000000000000000" pitchFamily="2" charset="2"/>
              <a:buChar char="Ø"/>
            </a:pPr>
            <a:r>
              <a:rPr lang="en-US" dirty="0"/>
              <a:t>Justify-content</a:t>
            </a:r>
          </a:p>
          <a:p>
            <a:pPr>
              <a:buFont typeface="Wingdings" panose="05000000000000000000" pitchFamily="2" charset="2"/>
              <a:buChar char="Ø"/>
            </a:pPr>
            <a:r>
              <a:rPr lang="en-US" dirty="0"/>
              <a:t>Align-items</a:t>
            </a:r>
          </a:p>
          <a:p>
            <a:pPr>
              <a:buFont typeface="Wingdings" panose="05000000000000000000" pitchFamily="2" charset="2"/>
              <a:buChar char="Ø"/>
            </a:pPr>
            <a:r>
              <a:rPr lang="en-US" dirty="0"/>
              <a:t>Align-content</a:t>
            </a:r>
          </a:p>
          <a:p>
            <a:pPr>
              <a:buFont typeface="Wingdings" panose="05000000000000000000" pitchFamily="2" charset="2"/>
              <a:buChar char="Ø"/>
            </a:pPr>
            <a:r>
              <a:rPr lang="en-US" dirty="0"/>
              <a:t>Gap</a:t>
            </a:r>
          </a:p>
        </p:txBody>
      </p:sp>
    </p:spTree>
    <p:extLst>
      <p:ext uri="{BB962C8B-B14F-4D97-AF65-F5344CB8AC3E}">
        <p14:creationId xmlns:p14="http://schemas.microsoft.com/office/powerpoint/2010/main" val="204895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864C-98E5-4D76-BC92-96AC9B20847F}"/>
              </a:ext>
            </a:extLst>
          </p:cNvPr>
          <p:cNvSpPr>
            <a:spLocks noGrp="1"/>
          </p:cNvSpPr>
          <p:nvPr>
            <p:ph type="title"/>
          </p:nvPr>
        </p:nvSpPr>
        <p:spPr/>
        <p:txBody>
          <a:bodyPr/>
          <a:lstStyle/>
          <a:p>
            <a:r>
              <a:rPr lang="en-US" dirty="0"/>
              <a:t>Display</a:t>
            </a:r>
          </a:p>
        </p:txBody>
      </p:sp>
      <p:sp>
        <p:nvSpPr>
          <p:cNvPr id="3" name="Content Placeholder 2">
            <a:extLst>
              <a:ext uri="{FF2B5EF4-FFF2-40B4-BE49-F238E27FC236}">
                <a16:creationId xmlns:a16="http://schemas.microsoft.com/office/drawing/2014/main" id="{FA588CAB-65A6-46DC-A61E-70BF32ACF3CA}"/>
              </a:ext>
            </a:extLst>
          </p:cNvPr>
          <p:cNvSpPr>
            <a:spLocks noGrp="1"/>
          </p:cNvSpPr>
          <p:nvPr>
            <p:ph idx="1"/>
          </p:nvPr>
        </p:nvSpPr>
        <p:spPr/>
        <p:txBody>
          <a:bodyPr/>
          <a:lstStyle/>
          <a:p>
            <a:r>
              <a:rPr lang="en-US" dirty="0"/>
              <a:t>Create either a block level or inline level flex container.</a:t>
            </a:r>
          </a:p>
          <a:p>
            <a:pPr>
              <a:buFont typeface="Wingdings" panose="05000000000000000000" pitchFamily="2" charset="2"/>
              <a:buChar char="Ø"/>
            </a:pPr>
            <a:r>
              <a:rPr lang="en-US" dirty="0"/>
              <a:t>Flex</a:t>
            </a:r>
          </a:p>
          <a:p>
            <a:pPr>
              <a:buFont typeface="Wingdings" panose="05000000000000000000" pitchFamily="2" charset="2"/>
              <a:buChar char="Ø"/>
            </a:pPr>
            <a:r>
              <a:rPr lang="en-US" dirty="0"/>
              <a:t>Inline-flex</a:t>
            </a:r>
          </a:p>
          <a:p>
            <a:endParaRPr lang="en-US" dirty="0"/>
          </a:p>
        </p:txBody>
      </p:sp>
    </p:spTree>
    <p:extLst>
      <p:ext uri="{BB962C8B-B14F-4D97-AF65-F5344CB8AC3E}">
        <p14:creationId xmlns:p14="http://schemas.microsoft.com/office/powerpoint/2010/main" val="239891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2AA-08BD-451B-BE02-BDDAC503B270}"/>
              </a:ext>
            </a:extLst>
          </p:cNvPr>
          <p:cNvSpPr>
            <a:spLocks noGrp="1"/>
          </p:cNvSpPr>
          <p:nvPr>
            <p:ph type="title"/>
          </p:nvPr>
        </p:nvSpPr>
        <p:spPr/>
        <p:txBody>
          <a:bodyPr/>
          <a:lstStyle/>
          <a:p>
            <a:r>
              <a:rPr lang="en-US" dirty="0"/>
              <a:t>Flex-direction</a:t>
            </a:r>
          </a:p>
        </p:txBody>
      </p:sp>
      <p:sp>
        <p:nvSpPr>
          <p:cNvPr id="3" name="Content Placeholder 2">
            <a:extLst>
              <a:ext uri="{FF2B5EF4-FFF2-40B4-BE49-F238E27FC236}">
                <a16:creationId xmlns:a16="http://schemas.microsoft.com/office/drawing/2014/main" id="{B2D41833-28EE-43FA-930E-6DF4E340E18E}"/>
              </a:ext>
            </a:extLst>
          </p:cNvPr>
          <p:cNvSpPr>
            <a:spLocks noGrp="1"/>
          </p:cNvSpPr>
          <p:nvPr>
            <p:ph idx="1"/>
          </p:nvPr>
        </p:nvSpPr>
        <p:spPr/>
        <p:txBody>
          <a:bodyPr/>
          <a:lstStyle/>
          <a:p>
            <a:r>
              <a:rPr lang="en-US" dirty="0"/>
              <a:t>Sets the direction of the main axis.</a:t>
            </a:r>
          </a:p>
          <a:p>
            <a:pPr>
              <a:buFont typeface="Wingdings" panose="05000000000000000000" pitchFamily="2" charset="2"/>
              <a:buChar char="Ø"/>
            </a:pPr>
            <a:r>
              <a:rPr lang="en-US" dirty="0"/>
              <a:t>Row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Row-reverse</a:t>
            </a:r>
          </a:p>
          <a:p>
            <a:pPr>
              <a:buFont typeface="Wingdings" panose="05000000000000000000" pitchFamily="2" charset="2"/>
              <a:buChar char="Ø"/>
            </a:pPr>
            <a:r>
              <a:rPr lang="en-US" dirty="0"/>
              <a:t>Column</a:t>
            </a:r>
          </a:p>
          <a:p>
            <a:pPr>
              <a:buFont typeface="Wingdings" panose="05000000000000000000" pitchFamily="2" charset="2"/>
              <a:buChar char="Ø"/>
            </a:pPr>
            <a:r>
              <a:rPr lang="en-US" dirty="0"/>
              <a:t>Column-reverse</a:t>
            </a:r>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2E2B0C38-23B5-6E5F-7520-EBB1E5C39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9373" y="2407850"/>
            <a:ext cx="5406307" cy="2549913"/>
          </a:xfrm>
          <a:prstGeom prst="rect">
            <a:avLst/>
          </a:prstGeom>
        </p:spPr>
      </p:pic>
    </p:spTree>
    <p:extLst>
      <p:ext uri="{BB962C8B-B14F-4D97-AF65-F5344CB8AC3E}">
        <p14:creationId xmlns:p14="http://schemas.microsoft.com/office/powerpoint/2010/main" val="327975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C04C-CB64-4EFF-8F9C-38161E0C1D51}"/>
              </a:ext>
            </a:extLst>
          </p:cNvPr>
          <p:cNvSpPr>
            <a:spLocks noGrp="1"/>
          </p:cNvSpPr>
          <p:nvPr>
            <p:ph type="title"/>
          </p:nvPr>
        </p:nvSpPr>
        <p:spPr/>
        <p:txBody>
          <a:bodyPr/>
          <a:lstStyle/>
          <a:p>
            <a:r>
              <a:rPr lang="en-US" dirty="0"/>
              <a:t>Flex-wrap</a:t>
            </a:r>
          </a:p>
        </p:txBody>
      </p:sp>
      <p:sp>
        <p:nvSpPr>
          <p:cNvPr id="3" name="Content Placeholder 2">
            <a:extLst>
              <a:ext uri="{FF2B5EF4-FFF2-40B4-BE49-F238E27FC236}">
                <a16:creationId xmlns:a16="http://schemas.microsoft.com/office/drawing/2014/main" id="{2250D676-FE2B-4825-AF73-82629402B486}"/>
              </a:ext>
            </a:extLst>
          </p:cNvPr>
          <p:cNvSpPr>
            <a:spLocks noGrp="1"/>
          </p:cNvSpPr>
          <p:nvPr>
            <p:ph idx="1"/>
          </p:nvPr>
        </p:nvSpPr>
        <p:spPr/>
        <p:txBody>
          <a:bodyPr/>
          <a:lstStyle/>
          <a:p>
            <a:r>
              <a:rPr lang="en-US" dirty="0"/>
              <a:t>Control the wrapping of flex items within the container.</a:t>
            </a:r>
          </a:p>
          <a:p>
            <a:pPr>
              <a:buFont typeface="Wingdings" panose="05000000000000000000" pitchFamily="2" charset="2"/>
              <a:buChar char="Ø"/>
            </a:pPr>
            <a:r>
              <a:rPr lang="en-US" dirty="0" err="1"/>
              <a:t>Nowrap</a:t>
            </a:r>
            <a:r>
              <a:rPr lang="en-US" dirty="0"/>
              <a: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Wrap</a:t>
            </a:r>
          </a:p>
          <a:p>
            <a:pPr>
              <a:buFont typeface="Wingdings" panose="05000000000000000000" pitchFamily="2" charset="2"/>
              <a:buChar char="Ø"/>
            </a:pPr>
            <a:r>
              <a:rPr lang="en-US" dirty="0"/>
              <a:t>Wrap-reverse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push the last item above instead of below</a:t>
            </a:r>
            <a:endParaRPr lang="en-US" dirty="0"/>
          </a:p>
        </p:txBody>
      </p:sp>
      <p:pic>
        <p:nvPicPr>
          <p:cNvPr id="5" name="Picture 4">
            <a:extLst>
              <a:ext uri="{FF2B5EF4-FFF2-40B4-BE49-F238E27FC236}">
                <a16:creationId xmlns:a16="http://schemas.microsoft.com/office/drawing/2014/main" id="{5C5C2E7B-08D7-5370-D39C-D2A93F2D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831" y="3667043"/>
            <a:ext cx="4710558" cy="2476581"/>
          </a:xfrm>
          <a:prstGeom prst="rect">
            <a:avLst/>
          </a:prstGeom>
        </p:spPr>
      </p:pic>
    </p:spTree>
    <p:extLst>
      <p:ext uri="{BB962C8B-B14F-4D97-AF65-F5344CB8AC3E}">
        <p14:creationId xmlns:p14="http://schemas.microsoft.com/office/powerpoint/2010/main" val="390975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6581-FCFD-4CE0-82B3-04EB0A0C0E0F}"/>
              </a:ext>
            </a:extLst>
          </p:cNvPr>
          <p:cNvSpPr>
            <a:spLocks noGrp="1"/>
          </p:cNvSpPr>
          <p:nvPr>
            <p:ph type="title"/>
          </p:nvPr>
        </p:nvSpPr>
        <p:spPr/>
        <p:txBody>
          <a:bodyPr/>
          <a:lstStyle/>
          <a:p>
            <a:r>
              <a:rPr lang="en-US" dirty="0"/>
              <a:t>Flex-flow</a:t>
            </a:r>
          </a:p>
        </p:txBody>
      </p:sp>
      <p:sp>
        <p:nvSpPr>
          <p:cNvPr id="3" name="Content Placeholder 2">
            <a:extLst>
              <a:ext uri="{FF2B5EF4-FFF2-40B4-BE49-F238E27FC236}">
                <a16:creationId xmlns:a16="http://schemas.microsoft.com/office/drawing/2014/main" id="{E8CA8EFC-B204-46F8-BECF-32A22480A792}"/>
              </a:ext>
            </a:extLst>
          </p:cNvPr>
          <p:cNvSpPr>
            <a:spLocks noGrp="1"/>
          </p:cNvSpPr>
          <p:nvPr>
            <p:ph idx="1"/>
          </p:nvPr>
        </p:nvSpPr>
        <p:spPr/>
        <p:txBody>
          <a:bodyPr/>
          <a:lstStyle/>
          <a:p>
            <a:r>
              <a:rPr lang="en-US" dirty="0"/>
              <a:t>Shorthand for flex-direction and flex-wrap.</a:t>
            </a:r>
          </a:p>
          <a:p>
            <a:endParaRPr lang="en-US" dirty="0"/>
          </a:p>
          <a:p>
            <a:pPr>
              <a:buFont typeface="Wingdings" panose="05000000000000000000" pitchFamily="2" charset="2"/>
              <a:buChar char="Ø"/>
            </a:pPr>
            <a:r>
              <a:rPr lang="en-US" dirty="0"/>
              <a:t>Flex-flow</a:t>
            </a:r>
            <a:r>
              <a:rPr lang="en-US" b="1" dirty="0">
                <a:solidFill>
                  <a:schemeClr val="accent1">
                    <a:lumMod val="75000"/>
                  </a:schemeClr>
                </a:solidFill>
              </a:rPr>
              <a:t> : </a:t>
            </a:r>
            <a:r>
              <a:rPr lang="en-US" dirty="0"/>
              <a:t>&lt;</a:t>
            </a:r>
            <a:r>
              <a:rPr lang="en-US" dirty="0">
                <a:solidFill>
                  <a:schemeClr val="accent1">
                    <a:lumMod val="75000"/>
                  </a:schemeClr>
                </a:solidFill>
              </a:rPr>
              <a:t>flex-direction</a:t>
            </a:r>
            <a:r>
              <a:rPr lang="en-US" dirty="0"/>
              <a:t>&gt; &lt;</a:t>
            </a:r>
            <a:r>
              <a:rPr lang="en-US" dirty="0">
                <a:solidFill>
                  <a:schemeClr val="accent1">
                    <a:lumMod val="75000"/>
                  </a:schemeClr>
                </a:solidFill>
              </a:rPr>
              <a:t>flex-wrap</a:t>
            </a:r>
            <a:r>
              <a:rPr lang="en-US" dirty="0"/>
              <a:t>&gt;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the Default is row </a:t>
            </a:r>
            <a:r>
              <a:rPr lang="en-US" dirty="0" err="1">
                <a:sym typeface="Wingdings" panose="05000000000000000000" pitchFamily="2" charset="2"/>
              </a:rPr>
              <a:t>nowrap</a:t>
            </a:r>
            <a:endParaRPr lang="en-US" dirty="0"/>
          </a:p>
        </p:txBody>
      </p:sp>
    </p:spTree>
    <p:extLst>
      <p:ext uri="{BB962C8B-B14F-4D97-AF65-F5344CB8AC3E}">
        <p14:creationId xmlns:p14="http://schemas.microsoft.com/office/powerpoint/2010/main" val="3236705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30C8-F1BC-4098-9EF5-839E90C14A21}"/>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54DA77EE-AEE5-4886-B1E8-AED050687E77}"/>
              </a:ext>
            </a:extLst>
          </p:cNvPr>
          <p:cNvSpPr>
            <a:spLocks noGrp="1"/>
          </p:cNvSpPr>
          <p:nvPr>
            <p:ph idx="1"/>
          </p:nvPr>
        </p:nvSpPr>
        <p:spPr/>
        <p:txBody>
          <a:bodyPr/>
          <a:lstStyle/>
          <a:p>
            <a:r>
              <a:rPr lang="en-US" dirty="0"/>
              <a:t>Align items and distribute any extra spacing in the parent container.</a:t>
            </a:r>
          </a:p>
          <a:p>
            <a:r>
              <a:rPr lang="en-US" dirty="0"/>
              <a:t>The alignment is always along the </a:t>
            </a:r>
            <a:r>
              <a:rPr lang="en-US" sz="2800" b="1" dirty="0"/>
              <a:t>main axis</a:t>
            </a:r>
            <a:r>
              <a:rPr lang="en-US" dirty="0"/>
              <a:t>.</a:t>
            </a:r>
          </a:p>
          <a:p>
            <a:pPr>
              <a:buFont typeface="Wingdings" panose="05000000000000000000" pitchFamily="2" charset="2"/>
              <a:buChar char="Ø"/>
            </a:pPr>
            <a:r>
              <a:rPr lang="en-US" dirty="0"/>
              <a:t>Flex-start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Space-evenly</a:t>
            </a:r>
          </a:p>
        </p:txBody>
      </p:sp>
      <p:pic>
        <p:nvPicPr>
          <p:cNvPr id="5" name="Picture 4">
            <a:extLst>
              <a:ext uri="{FF2B5EF4-FFF2-40B4-BE49-F238E27FC236}">
                <a16:creationId xmlns:a16="http://schemas.microsoft.com/office/drawing/2014/main" id="{662030F5-57B8-A311-AEE4-71ACFB44B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463" y="2115785"/>
            <a:ext cx="2883217" cy="3861683"/>
          </a:xfrm>
          <a:prstGeom prst="rect">
            <a:avLst/>
          </a:prstGeom>
        </p:spPr>
      </p:pic>
    </p:spTree>
    <p:extLst>
      <p:ext uri="{BB962C8B-B14F-4D97-AF65-F5344CB8AC3E}">
        <p14:creationId xmlns:p14="http://schemas.microsoft.com/office/powerpoint/2010/main" val="369994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498B-CE1C-4C40-872C-FF76EBDAFB4A}"/>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21E16260-046E-4989-9483-1CD02E76BC3F}"/>
              </a:ext>
            </a:extLst>
          </p:cNvPr>
          <p:cNvSpPr>
            <a:spLocks noGrp="1"/>
          </p:cNvSpPr>
          <p:nvPr>
            <p:ph idx="1"/>
          </p:nvPr>
        </p:nvSpPr>
        <p:spPr/>
        <p:txBody>
          <a:bodyPr/>
          <a:lstStyle/>
          <a:p>
            <a:r>
              <a:rPr lang="en-US" dirty="0"/>
              <a:t>Align items along the </a:t>
            </a:r>
            <a:r>
              <a:rPr lang="en-US" sz="3200" b="1" dirty="0"/>
              <a:t>cross axis</a:t>
            </a:r>
            <a:r>
              <a:rPr lang="en-US" dirty="0"/>
              <a:t>.</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Baseline</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E40CE1BE-2AA0-E551-FD7A-5CADADCCF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935" y="1845734"/>
            <a:ext cx="3520745" cy="4404742"/>
          </a:xfrm>
          <a:prstGeom prst="rect">
            <a:avLst/>
          </a:prstGeom>
        </p:spPr>
      </p:pic>
    </p:spTree>
    <p:extLst>
      <p:ext uri="{BB962C8B-B14F-4D97-AF65-F5344CB8AC3E}">
        <p14:creationId xmlns:p14="http://schemas.microsoft.com/office/powerpoint/2010/main" val="79866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302E-336F-4164-9B2A-E695E50CE853}"/>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0D221063-B47F-4A39-A596-C3D25D827CD9}"/>
              </a:ext>
            </a:extLst>
          </p:cNvPr>
          <p:cNvSpPr>
            <a:spLocks noGrp="1"/>
          </p:cNvSpPr>
          <p:nvPr>
            <p:ph idx="1"/>
          </p:nvPr>
        </p:nvSpPr>
        <p:spPr/>
        <p:txBody>
          <a:bodyPr/>
          <a:lstStyle/>
          <a:p>
            <a:r>
              <a:rPr lang="en-US" dirty="0"/>
              <a:t>Aligns lines of content along the </a:t>
            </a:r>
            <a:r>
              <a:rPr lang="en-US" sz="3200" b="1" dirty="0"/>
              <a:t>cross axis </a:t>
            </a:r>
            <a:r>
              <a:rPr lang="en-US" dirty="0"/>
              <a:t>and distribute any extra spacing in the parent container .</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52F6DB17-1A82-BCB6-BDE2-016434E98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532" y="2274359"/>
            <a:ext cx="2869148" cy="3896136"/>
          </a:xfrm>
          <a:prstGeom prst="rect">
            <a:avLst/>
          </a:prstGeom>
        </p:spPr>
      </p:pic>
    </p:spTree>
    <p:extLst>
      <p:ext uri="{BB962C8B-B14F-4D97-AF65-F5344CB8AC3E}">
        <p14:creationId xmlns:p14="http://schemas.microsoft.com/office/powerpoint/2010/main" val="166322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847-EAEC-C9FF-6163-541881BB488A}"/>
              </a:ext>
            </a:extLst>
          </p:cNvPr>
          <p:cNvSpPr>
            <a:spLocks noGrp="1"/>
          </p:cNvSpPr>
          <p:nvPr>
            <p:ph type="title"/>
          </p:nvPr>
        </p:nvSpPr>
        <p:spPr/>
        <p:txBody>
          <a:bodyPr/>
          <a:lstStyle/>
          <a:p>
            <a:r>
              <a:rPr lang="en-US" dirty="0"/>
              <a:t>Gap</a:t>
            </a:r>
          </a:p>
        </p:txBody>
      </p:sp>
      <p:sp>
        <p:nvSpPr>
          <p:cNvPr id="3" name="Content Placeholder 2">
            <a:extLst>
              <a:ext uri="{FF2B5EF4-FFF2-40B4-BE49-F238E27FC236}">
                <a16:creationId xmlns:a16="http://schemas.microsoft.com/office/drawing/2014/main" id="{8EC7FC5D-13C3-EB9F-2ED8-F4F0C94FEE25}"/>
              </a:ext>
            </a:extLst>
          </p:cNvPr>
          <p:cNvSpPr>
            <a:spLocks noGrp="1"/>
          </p:cNvSpPr>
          <p:nvPr>
            <p:ph idx="1"/>
          </p:nvPr>
        </p:nvSpPr>
        <p:spPr/>
        <p:txBody>
          <a:bodyPr/>
          <a:lstStyle/>
          <a:p>
            <a:pPr>
              <a:buFont typeface="Wingdings" panose="05000000000000000000" pitchFamily="2" charset="2"/>
              <a:buChar char="Ø"/>
            </a:pPr>
            <a:r>
              <a:rPr lang="en-US" dirty="0"/>
              <a:t> gap </a:t>
            </a:r>
            <a:r>
              <a:rPr lang="en-US" b="1" dirty="0">
                <a:solidFill>
                  <a:schemeClr val="accent1">
                    <a:lumMod val="75000"/>
                  </a:schemeClr>
                </a:solidFill>
              </a:rPr>
              <a:t>:</a:t>
            </a:r>
            <a:r>
              <a:rPr lang="en-US" dirty="0"/>
              <a:t> row column</a:t>
            </a:r>
          </a:p>
        </p:txBody>
      </p:sp>
      <p:pic>
        <p:nvPicPr>
          <p:cNvPr id="5" name="Picture 4">
            <a:extLst>
              <a:ext uri="{FF2B5EF4-FFF2-40B4-BE49-F238E27FC236}">
                <a16:creationId xmlns:a16="http://schemas.microsoft.com/office/drawing/2014/main" id="{048CBDDF-DD2D-C70F-8988-3909B6A4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99" y="1930897"/>
            <a:ext cx="5746581" cy="4046571"/>
          </a:xfrm>
          <a:prstGeom prst="rect">
            <a:avLst/>
          </a:prstGeom>
        </p:spPr>
      </p:pic>
    </p:spTree>
    <p:extLst>
      <p:ext uri="{BB962C8B-B14F-4D97-AF65-F5344CB8AC3E}">
        <p14:creationId xmlns:p14="http://schemas.microsoft.com/office/powerpoint/2010/main" val="313661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49F-7F26-4937-8005-882185C401E5}"/>
              </a:ext>
            </a:extLst>
          </p:cNvPr>
          <p:cNvSpPr>
            <a:spLocks noGrp="1"/>
          </p:cNvSpPr>
          <p:nvPr>
            <p:ph type="title"/>
          </p:nvPr>
        </p:nvSpPr>
        <p:spPr/>
        <p:txBody>
          <a:bodyPr/>
          <a:lstStyle/>
          <a:p>
            <a:r>
              <a:rPr lang="en-US" dirty="0"/>
              <a:t>Flex Items Properties</a:t>
            </a:r>
          </a:p>
        </p:txBody>
      </p:sp>
      <p:sp>
        <p:nvSpPr>
          <p:cNvPr id="3" name="Content Placeholder 2">
            <a:extLst>
              <a:ext uri="{FF2B5EF4-FFF2-40B4-BE49-F238E27FC236}">
                <a16:creationId xmlns:a16="http://schemas.microsoft.com/office/drawing/2014/main" id="{1F45B3A9-9B5A-4EA7-962E-E3FBDD4ECB15}"/>
              </a:ext>
            </a:extLst>
          </p:cNvPr>
          <p:cNvSpPr>
            <a:spLocks noGrp="1"/>
          </p:cNvSpPr>
          <p:nvPr>
            <p:ph idx="1"/>
          </p:nvPr>
        </p:nvSpPr>
        <p:spPr/>
        <p:txBody>
          <a:bodyPr/>
          <a:lstStyle/>
          <a:p>
            <a:pPr>
              <a:buFont typeface="Wingdings" panose="05000000000000000000" pitchFamily="2" charset="2"/>
              <a:buChar char="Ø"/>
            </a:pPr>
            <a:r>
              <a:rPr lang="en-US" dirty="0"/>
              <a:t>Order</a:t>
            </a:r>
          </a:p>
          <a:p>
            <a:pPr>
              <a:buFont typeface="Wingdings" panose="05000000000000000000" pitchFamily="2" charset="2"/>
              <a:buChar char="Ø"/>
            </a:pPr>
            <a:r>
              <a:rPr lang="en-US" dirty="0"/>
              <a:t>Flex-grow</a:t>
            </a:r>
          </a:p>
        </p:txBody>
      </p:sp>
    </p:spTree>
    <p:extLst>
      <p:ext uri="{BB962C8B-B14F-4D97-AF65-F5344CB8AC3E}">
        <p14:creationId xmlns:p14="http://schemas.microsoft.com/office/powerpoint/2010/main" val="358870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204A-8239-42DE-B9E9-51B552B8CEC2}"/>
              </a:ext>
            </a:extLst>
          </p:cNvPr>
          <p:cNvSpPr>
            <a:spLocks noGrp="1"/>
          </p:cNvSpPr>
          <p:nvPr>
            <p:ph type="title"/>
          </p:nvPr>
        </p:nvSpPr>
        <p:spPr/>
        <p:txBody>
          <a:bodyPr/>
          <a:lstStyle/>
          <a:p>
            <a:r>
              <a:rPr lang="en-US" dirty="0"/>
              <a:t>Order </a:t>
            </a:r>
          </a:p>
        </p:txBody>
      </p:sp>
      <p:sp>
        <p:nvSpPr>
          <p:cNvPr id="3" name="Content Placeholder 2">
            <a:extLst>
              <a:ext uri="{FF2B5EF4-FFF2-40B4-BE49-F238E27FC236}">
                <a16:creationId xmlns:a16="http://schemas.microsoft.com/office/drawing/2014/main" id="{FBF605D7-0690-40E4-A0FB-635D107A9B36}"/>
              </a:ext>
            </a:extLst>
          </p:cNvPr>
          <p:cNvSpPr>
            <a:spLocks noGrp="1"/>
          </p:cNvSpPr>
          <p:nvPr>
            <p:ph idx="1"/>
          </p:nvPr>
        </p:nvSpPr>
        <p:spPr/>
        <p:txBody>
          <a:bodyPr/>
          <a:lstStyle/>
          <a:p>
            <a:r>
              <a:rPr lang="en-US" dirty="0"/>
              <a:t>Control the order of items in the flex container .</a:t>
            </a:r>
          </a:p>
          <a:p>
            <a:r>
              <a:rPr lang="en-US" b="1" dirty="0">
                <a:solidFill>
                  <a:schemeClr val="accent1">
                    <a:lumMod val="75000"/>
                  </a:schemeClr>
                </a:solidFill>
              </a:rPr>
              <a:t>Zero</a:t>
            </a:r>
            <a:r>
              <a:rPr lang="en-US" dirty="0"/>
              <a:t> is the default value .</a:t>
            </a:r>
          </a:p>
        </p:txBody>
      </p:sp>
      <p:pic>
        <p:nvPicPr>
          <p:cNvPr id="5" name="Picture 4">
            <a:extLst>
              <a:ext uri="{FF2B5EF4-FFF2-40B4-BE49-F238E27FC236}">
                <a16:creationId xmlns:a16="http://schemas.microsoft.com/office/drawing/2014/main" id="{4B5012BC-708F-8F3C-F145-A3472E402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9010" y="2066648"/>
            <a:ext cx="4136670" cy="3581532"/>
          </a:xfrm>
          <a:prstGeom prst="rect">
            <a:avLst/>
          </a:prstGeom>
        </p:spPr>
      </p:pic>
    </p:spTree>
    <p:extLst>
      <p:ext uri="{BB962C8B-B14F-4D97-AF65-F5344CB8AC3E}">
        <p14:creationId xmlns:p14="http://schemas.microsoft.com/office/powerpoint/2010/main" val="344260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E3B-A591-4388-9C16-9D05FE701F1B}"/>
              </a:ext>
            </a:extLst>
          </p:cNvPr>
          <p:cNvSpPr>
            <a:spLocks noGrp="1"/>
          </p:cNvSpPr>
          <p:nvPr>
            <p:ph type="title"/>
          </p:nvPr>
        </p:nvSpPr>
        <p:spPr/>
        <p:txBody>
          <a:bodyPr/>
          <a:lstStyle/>
          <a:p>
            <a:r>
              <a:rPr lang="en-US" dirty="0"/>
              <a:t>Flex-Grow</a:t>
            </a:r>
          </a:p>
        </p:txBody>
      </p:sp>
      <p:sp>
        <p:nvSpPr>
          <p:cNvPr id="3" name="Content Placeholder 2">
            <a:extLst>
              <a:ext uri="{FF2B5EF4-FFF2-40B4-BE49-F238E27FC236}">
                <a16:creationId xmlns:a16="http://schemas.microsoft.com/office/drawing/2014/main" id="{FC4A948E-E4A7-45F6-92B7-4414BC628AB1}"/>
              </a:ext>
            </a:extLst>
          </p:cNvPr>
          <p:cNvSpPr>
            <a:spLocks noGrp="1"/>
          </p:cNvSpPr>
          <p:nvPr>
            <p:ph idx="1"/>
          </p:nvPr>
        </p:nvSpPr>
        <p:spPr/>
        <p:txBody>
          <a:bodyPr/>
          <a:lstStyle/>
          <a:p>
            <a:r>
              <a:rPr lang="en-US" dirty="0"/>
              <a:t>Dictates what amount of the available space inside the flex container the items should take up.</a:t>
            </a:r>
          </a:p>
          <a:p>
            <a:r>
              <a:rPr lang="en-US" dirty="0"/>
              <a:t>Relative to other items in the container.</a:t>
            </a:r>
          </a:p>
          <a:p>
            <a:r>
              <a:rPr lang="en-US" dirty="0"/>
              <a:t>Default value is </a:t>
            </a:r>
            <a:r>
              <a:rPr lang="en-US" dirty="0">
                <a:solidFill>
                  <a:schemeClr val="accent1">
                    <a:lumMod val="75000"/>
                  </a:schemeClr>
                </a:solidFill>
              </a:rPr>
              <a:t>zero</a:t>
            </a:r>
            <a:r>
              <a:rPr lang="en-US" dirty="0"/>
              <a:t> .</a:t>
            </a:r>
          </a:p>
        </p:txBody>
      </p:sp>
      <p:pic>
        <p:nvPicPr>
          <p:cNvPr id="5" name="Picture 4">
            <a:extLst>
              <a:ext uri="{FF2B5EF4-FFF2-40B4-BE49-F238E27FC236}">
                <a16:creationId xmlns:a16="http://schemas.microsoft.com/office/drawing/2014/main" id="{B4436D14-BEE2-0A3E-65AE-8C02C9827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534" y="2909821"/>
            <a:ext cx="5674146" cy="2505142"/>
          </a:xfrm>
          <a:prstGeom prst="rect">
            <a:avLst/>
          </a:prstGeom>
        </p:spPr>
      </p:pic>
    </p:spTree>
    <p:extLst>
      <p:ext uri="{BB962C8B-B14F-4D97-AF65-F5344CB8AC3E}">
        <p14:creationId xmlns:p14="http://schemas.microsoft.com/office/powerpoint/2010/main" val="18466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Grid System</a:t>
            </a:r>
          </a:p>
        </p:txBody>
      </p:sp>
    </p:spTree>
    <p:extLst>
      <p:ext uri="{BB962C8B-B14F-4D97-AF65-F5344CB8AC3E}">
        <p14:creationId xmlns:p14="http://schemas.microsoft.com/office/powerpoint/2010/main" val="25422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1">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31694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1598321" y="2048460"/>
            <a:ext cx="9056318" cy="3942162"/>
          </a:xfrm>
          <a:prstGeom prst="rect">
            <a:avLst/>
          </a:prstGeom>
        </p:spPr>
      </p:pic>
    </p:spTree>
    <p:extLst>
      <p:ext uri="{BB962C8B-B14F-4D97-AF65-F5344CB8AC3E}">
        <p14:creationId xmlns:p14="http://schemas.microsoft.com/office/powerpoint/2010/main" val="399300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sz="2400" dirty="0"/>
              <a:t>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sz="2400" dirty="0"/>
              <a:t>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40397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a:t>
            </a:r>
            <a:r>
              <a:rPr lang="en-US" b="1" dirty="0">
                <a:solidFill>
                  <a:schemeClr val="accent1">
                    <a:lumMod val="75000"/>
                  </a:schemeClr>
                </a:solidFill>
              </a:rPr>
              <a:t>:</a:t>
            </a:r>
            <a:r>
              <a:rPr lang="en-US" dirty="0"/>
              <a:t> start/end</a:t>
            </a:r>
          </a:p>
          <a:p>
            <a:pPr>
              <a:buFont typeface="Wingdings" panose="05000000000000000000" pitchFamily="2" charset="2"/>
              <a:buChar char="§"/>
            </a:pPr>
            <a:r>
              <a:rPr lang="en-US" dirty="0"/>
              <a:t>Grid-row</a:t>
            </a:r>
            <a:r>
              <a:rPr lang="en-US" b="1" dirty="0">
                <a:solidFill>
                  <a:schemeClr val="accent1">
                    <a:lumMod val="75000"/>
                  </a:schemeClr>
                </a:solidFill>
              </a:rPr>
              <a:t> : </a:t>
            </a:r>
            <a:r>
              <a:rPr lang="en-US" dirty="0"/>
              <a:t>start/end</a:t>
            </a:r>
          </a:p>
        </p:txBody>
      </p:sp>
    </p:spTree>
    <p:extLst>
      <p:ext uri="{BB962C8B-B14F-4D97-AF65-F5344CB8AC3E}">
        <p14:creationId xmlns:p14="http://schemas.microsoft.com/office/powerpoint/2010/main" val="162014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Media Queries</a:t>
            </a:r>
          </a:p>
        </p:txBody>
      </p:sp>
    </p:spTree>
    <p:extLst>
      <p:ext uri="{BB962C8B-B14F-4D97-AF65-F5344CB8AC3E}">
        <p14:creationId xmlns:p14="http://schemas.microsoft.com/office/powerpoint/2010/main" val="58180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a:t>
            </a:r>
            <a:r>
              <a:rPr lang="en-US" sz="2400" b="1" dirty="0">
                <a:solidFill>
                  <a:schemeClr val="accent1">
                    <a:lumMod val="75000"/>
                  </a:schemeClr>
                </a:solidFill>
              </a:rPr>
              <a:t>:</a:t>
            </a:r>
            <a:r>
              <a:rPr lang="en-US" sz="2400" dirty="0"/>
              <a:t>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136476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1420</TotalTime>
  <Words>790</Words>
  <Application>Microsoft Office PowerPoint</Application>
  <PresentationFormat>Widescreen</PresentationFormat>
  <Paragraphs>166</Paragraphs>
  <Slides>32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Calibri Light</vt:lpstr>
      <vt:lpstr>Consolas</vt:lpstr>
      <vt:lpstr>DeepSeek-CJK-patch</vt:lpstr>
      <vt:lpstr>Freestyle Script</vt:lpstr>
      <vt:lpstr>Inter</vt:lpstr>
      <vt:lpstr>nunito</vt:lpstr>
      <vt:lpstr>Wingdings</vt:lpstr>
      <vt:lpstr>Retrospect</vt:lpstr>
      <vt:lpstr>Responsive Web Design</vt:lpstr>
      <vt:lpstr>Meaning of RWD</vt:lpstr>
      <vt:lpstr>RWD</vt:lpstr>
      <vt:lpstr>Viewport</vt:lpstr>
      <vt:lpstr>Terminologies</vt:lpstr>
      <vt:lpstr>Web Layout</vt:lpstr>
      <vt:lpstr>RWD Fundamentals </vt:lpstr>
      <vt:lpstr>Flexbox</vt:lpstr>
      <vt:lpstr>Flexbox</vt:lpstr>
      <vt:lpstr>Why Flexbox ?</vt:lpstr>
      <vt:lpstr>Terminology</vt:lpstr>
      <vt:lpstr>Flexbox Axes</vt:lpstr>
      <vt:lpstr>Flex Container Properties</vt:lpstr>
      <vt:lpstr>Display</vt:lpstr>
      <vt:lpstr>Flex-direction</vt:lpstr>
      <vt:lpstr>Flex-wrap</vt:lpstr>
      <vt:lpstr>Flex-flow</vt:lpstr>
      <vt:lpstr>Justify-content</vt:lpstr>
      <vt:lpstr>Align-Items</vt:lpstr>
      <vt:lpstr>Align-Content</vt:lpstr>
      <vt:lpstr>Gap</vt:lpstr>
      <vt:lpstr>Flex Items Properties</vt:lpstr>
      <vt:lpstr>Order </vt:lpstr>
      <vt:lpstr>Flex-Grow</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yasser salem</cp:lastModifiedBy>
  <cp:revision>27</cp:revision>
  <dcterms:created xsi:type="dcterms:W3CDTF">2022-04-25T07:27:39Z</dcterms:created>
  <dcterms:modified xsi:type="dcterms:W3CDTF">2025-12-21T08:00:28Z</dcterms:modified>
</cp:coreProperties>
</file>